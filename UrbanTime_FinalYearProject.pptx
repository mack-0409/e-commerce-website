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E8B44B"/>
                </a:solidFill>
              </a:defRPr>
            </a:pPr>
            <a:r>
              <a:t>URBANTIME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377440"/>
            <a:ext cx="2103120" cy="508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6517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</a:defRPr>
            </a:pPr>
            <a:r>
              <a:t>Luxury Watch E-Commerce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474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A Full-Stack Web Application for Premium Timepiece Retail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4572000"/>
            <a:ext cx="2286000" cy="1280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8B44B"/>
                </a:solidFill>
              </a:defRPr>
            </a:pPr>
            <a:r>
              <a:t>Project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50292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Full-Stack Web Application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4572000"/>
            <a:ext cx="2286000" cy="1280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8B44B"/>
                </a:solidFill>
              </a:defRPr>
            </a:pPr>
            <a:r>
              <a:t>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50292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E-Commerce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4572000"/>
            <a:ext cx="2286000" cy="1280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8B44B"/>
                </a:solidFill>
              </a:defRPr>
            </a:pPr>
            <a:r>
              <a:t>Team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50292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Final Year 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CCCCCC"/>
                </a:solidFill>
              </a:defRPr>
            </a:pPr>
            <a:r>
              <a:t>1/12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B44B"/>
                </a:solidFill>
              </a:defRPr>
            </a:pPr>
            <a:r>
              <a:t>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</a:defRPr>
            </a:pPr>
            <a:r>
              <a:t>UrbanTime is a full-stack luxury watch e-commerce platform designed to provide a seamless online shopping experience for premium timepieces. The platform caters to watch enthusiasts looking for curated collections from renowned brands worldwide.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E8B44B"/>
                </a:solidFill>
              </a:rPr>
              <a:t>  •  </a:t>
            </a:r>
            <a:r>
              <a:rPr sz="1500">
                <a:solidFill>
                  <a:srgbClr val="FFFFFF"/>
                </a:solidFill>
              </a:rPr>
              <a:t>Online luxury watch marketplace with curated collections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E8B44B"/>
                </a:solidFill>
              </a:rPr>
              <a:t>  •  </a:t>
            </a:r>
            <a:r>
              <a:rPr sz="1500">
                <a:solidFill>
                  <a:srgbClr val="FFFFFF"/>
                </a:solidFill>
              </a:rPr>
              <a:t>Separate customer storefront and admin management panel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E8B44B"/>
                </a:solidFill>
              </a:rPr>
              <a:t>  •  </a:t>
            </a:r>
            <a:r>
              <a:rPr sz="1500">
                <a:solidFill>
                  <a:srgbClr val="FFFFFF"/>
                </a:solidFill>
              </a:rPr>
              <a:t>Secure user authentication with JWT-based authorization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E8B44B"/>
                </a:solidFill>
              </a:rPr>
              <a:t>  •  </a:t>
            </a:r>
            <a:r>
              <a:rPr sz="1500">
                <a:solidFill>
                  <a:srgbClr val="FFFFFF"/>
                </a:solidFill>
              </a:rPr>
              <a:t>Integrated Stripe payment gateway for online transactions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E8B44B"/>
                </a:solidFill>
              </a:rPr>
              <a:t>  •  </a:t>
            </a:r>
            <a:r>
              <a:rPr sz="1500">
                <a:solidFill>
                  <a:srgbClr val="FFFFFF"/>
                </a:solidFill>
              </a:rPr>
              <a:t>AI-powered chatbot for real-time customer assistance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E8B44B"/>
                </a:solidFill>
              </a:rPr>
              <a:t>  •  </a:t>
            </a:r>
            <a:r>
              <a:rPr sz="1500">
                <a:solidFill>
                  <a:srgbClr val="FFFFFF"/>
                </a:solidFill>
              </a:rPr>
              <a:t>Responsive design with dark/light theme support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E8B44B"/>
                </a:solidFill>
              </a:rPr>
              <a:t>  •  </a:t>
            </a:r>
            <a:r>
              <a:rPr sz="1500">
                <a:solidFill>
                  <a:srgbClr val="FFFFFF"/>
                </a:solidFill>
              </a:rPr>
              <a:t>MongoDB-backed scalable database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1371600"/>
            <a:ext cx="4754880" cy="1051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4630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B44B"/>
                </a:solidFill>
              </a:defRPr>
            </a:pPr>
            <a:r>
              <a:t>Full-Stack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React + Node.js + MongoDB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606040"/>
            <a:ext cx="4754880" cy="1051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269748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B44B"/>
                </a:solidFill>
              </a:defRPr>
            </a:pPr>
            <a:r>
              <a:t>Secure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10896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JWT + Bcrypt + Stripe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3840480"/>
            <a:ext cx="4754880" cy="1051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39319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B44B"/>
                </a:solidFill>
              </a:defRPr>
            </a:pPr>
            <a:r>
              <a:t>Smart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434340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AI Chatbot Assistant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5074920"/>
            <a:ext cx="4754880" cy="1051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516636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B44B"/>
                </a:solidFill>
              </a:defRPr>
            </a:pPr>
            <a:r>
              <a:t>Modern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55778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Tailwind CSS + Vite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CCCCCC"/>
                </a:solidFill>
              </a:defRPr>
            </a:pPr>
            <a: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B44B"/>
                </a:solidFill>
              </a:defRPr>
            </a:pPr>
            <a:r>
              <a:t>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474720" cy="2194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Build a Scalable E-Commerce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Develop a full-stack web application using MERN stack for selling luxury watches online with a clean, modern UI.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79" y="1463040"/>
            <a:ext cx="3474720" cy="2194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80559" y="1645920"/>
            <a:ext cx="457200" cy="457200"/>
          </a:xfrm>
          <a:prstGeom prst="ellipse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39" y="16459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Implement Secure Authentication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2860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Create a robust JWT-based authentication system with password encryption using Bcrypt to protect user data.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19" y="1463040"/>
            <a:ext cx="3474720" cy="2194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599" y="1645920"/>
            <a:ext cx="457200" cy="457200"/>
          </a:xfrm>
          <a:prstGeom prst="ellipse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79" y="16459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Enable Online Payment Processing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2860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Integrate Stripe payment gateway to support secure online transactions with payment confirmation workflow.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23360"/>
            <a:ext cx="3474720" cy="2194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206240"/>
            <a:ext cx="457200" cy="457200"/>
          </a:xfrm>
          <a:prstGeom prst="ellipse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062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Develop an Admin Management Panel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Build a separate admin dashboard for managing watch inventory, viewing orders, and handling bookings.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79" y="4023360"/>
            <a:ext cx="3474720" cy="2194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80559" y="4206240"/>
            <a:ext cx="457200" cy="457200"/>
          </a:xfrm>
          <a:prstGeom prst="ellipse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39" y="42062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Provide AI-Powered Customer Support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48463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Implement an intelligent chatbot to assist users with product discovery, order tracking, and FAQs.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19" y="4023360"/>
            <a:ext cx="3474720" cy="2194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29599" y="4206240"/>
            <a:ext cx="457200" cy="457200"/>
          </a:xfrm>
          <a:prstGeom prst="ellipse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79" y="42062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Ensure Responsive &amp; Accessible 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9" y="48463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Create a mobile-first responsive interface with dark/light theme support for enhanced user experience.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CCCCCC"/>
                </a:solidFill>
              </a:defRPr>
            </a:pPr>
            <a: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B44B"/>
                </a:solidFill>
              </a:defRPr>
            </a:pPr>
            <a:r>
              <a:t>KEY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39496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664208"/>
            <a:ext cx="137160" cy="137160"/>
          </a:xfrm>
          <a:prstGeom prst="ellipse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173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B44B"/>
                </a:solidFill>
              </a:defRPr>
            </a:pPr>
            <a:r>
              <a:t>User Authentication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</a:defRPr>
            </a:pPr>
            <a:r>
              <a:t>Secure registration &amp; login with JWT tokens and Bcrypt password hashing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39496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0" y="1664208"/>
            <a:ext cx="137160" cy="137160"/>
          </a:xfrm>
          <a:prstGeom prst="ellipse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4173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B44B"/>
                </a:solidFill>
              </a:defRPr>
            </a:pPr>
            <a:r>
              <a:t>Watch Catalog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783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</a:defRPr>
            </a:pPr>
            <a:r>
              <a:t>Browse watches by category (Men/Women) and by brand with filtering &amp; pagination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39496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2670048"/>
            <a:ext cx="137160" cy="137160"/>
          </a:xfrm>
          <a:prstGeom prst="ellipse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423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B44B"/>
                </a:solidFill>
              </a:defRPr>
            </a:pPr>
            <a:r>
              <a:t>Shopping Cart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788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</a:defRPr>
            </a:pPr>
            <a:r>
              <a:t>Add, update, remove items with real-time quantity management and price calculation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377440"/>
            <a:ext cx="539496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0" y="2670048"/>
            <a:ext cx="137160" cy="137160"/>
          </a:xfrm>
          <a:prstGeom prst="ellipse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2423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B44B"/>
                </a:solidFill>
              </a:defRPr>
            </a:pPr>
            <a:r>
              <a:t>Stripe Payments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788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</a:defRPr>
            </a:pPr>
            <a:r>
              <a:t>Secure online payment processing with Stripe Checkout sessions and payment confirmation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383280"/>
            <a:ext cx="539496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1520" y="3675888"/>
            <a:ext cx="137160" cy="137160"/>
          </a:xfrm>
          <a:prstGeom prst="ellipse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290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B44B"/>
                </a:solidFill>
              </a:defRPr>
            </a:pPr>
            <a:r>
              <a:t>Admin Panel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794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</a:defRPr>
            </a:pPr>
            <a:r>
              <a:t>Add/delete watches, manage product listings, view and process customer orders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383280"/>
            <a:ext cx="539496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0" y="3675888"/>
            <a:ext cx="137160" cy="137160"/>
          </a:xfrm>
          <a:prstGeom prst="ellipse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34290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B44B"/>
                </a:solidFill>
              </a:defRPr>
            </a:pPr>
            <a:r>
              <a:t>AI Chatbot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3794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</a:defRPr>
            </a:pPr>
            <a:r>
              <a:t>Interactive chatbot for product recommendations, order tracking, and customer support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389120"/>
            <a:ext cx="539496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4681728"/>
            <a:ext cx="137160" cy="137160"/>
          </a:xfrm>
          <a:prstGeom prst="ellipse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434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B44B"/>
                </a:solidFill>
              </a:defRPr>
            </a:pPr>
            <a:r>
              <a:t>Dark/Light Theme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800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</a:defRPr>
            </a:pPr>
            <a:r>
              <a:t>Toggle between dark and light modes with persistent theme preference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389120"/>
            <a:ext cx="539496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00800" y="4681728"/>
            <a:ext cx="137160" cy="137160"/>
          </a:xfrm>
          <a:prstGeom prst="ellipse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4434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B44B"/>
                </a:solidFill>
              </a:defRPr>
            </a:pPr>
            <a:r>
              <a:t>Responsive Design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4800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</a:defRPr>
            </a:pPr>
            <a:r>
              <a:t>Mobile-first layout with Tailwind CSS, hamburger menu for mobile navigation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394960"/>
            <a:ext cx="539496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687568"/>
            <a:ext cx="137160" cy="137160"/>
          </a:xfrm>
          <a:prstGeom prst="ellipse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440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B44B"/>
                </a:solidFill>
              </a:defRPr>
            </a:pPr>
            <a:r>
              <a:t>Order Management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8064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</a:defRPr>
            </a:pPr>
            <a:r>
              <a:t>Complete order lifecycle with status tracking (Pending, Processing, Shipped, Delivered)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5394960"/>
            <a:ext cx="539496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00800" y="5687568"/>
            <a:ext cx="137160" cy="137160"/>
          </a:xfrm>
          <a:prstGeom prst="ellipse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5440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B44B"/>
                </a:solidFill>
              </a:defRPr>
            </a:pPr>
            <a:r>
              <a:t>Image Upload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75120" y="58064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</a:defRPr>
            </a:pPr>
            <a:r>
              <a:t>Multer-based image upload for watch product images with static file serving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CCCCCC"/>
                </a:solidFill>
              </a:defRPr>
            </a:pPr>
            <a: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B44B"/>
                </a:solidFill>
              </a:defRPr>
            </a:pPr>
            <a: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474720" cy="320040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FRONTEND (Client)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1554480" y="2057400"/>
            <a:ext cx="1280160" cy="508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E8B44B"/>
                </a:solidFill>
              </a:rPr>
              <a:t>  •  </a:t>
            </a:r>
            <a:r>
              <a:rPr sz="1300">
                <a:solidFill>
                  <a:srgbClr val="FFFFFF"/>
                </a:solidFill>
              </a:rPr>
              <a:t>React.js + Vite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E8B44B"/>
                </a:solidFill>
              </a:rPr>
              <a:t>  •  </a:t>
            </a:r>
            <a:r>
              <a:rPr sz="1300">
                <a:solidFill>
                  <a:srgbClr val="FFFFFF"/>
                </a:solidFill>
              </a:rPr>
              <a:t>Tailwind CSS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E8B44B"/>
                </a:solidFill>
              </a:rPr>
              <a:t>  •  </a:t>
            </a:r>
            <a:r>
              <a:rPr sz="1300">
                <a:solidFill>
                  <a:srgbClr val="FFFFFF"/>
                </a:solidFill>
              </a:rPr>
              <a:t>React Router DOM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E8B44B"/>
                </a:solidFill>
              </a:rPr>
              <a:t>  •  </a:t>
            </a:r>
            <a:r>
              <a:rPr sz="1300">
                <a:solidFill>
                  <a:srgbClr val="FFFFFF"/>
                </a:solidFill>
              </a:rPr>
              <a:t>Axios HTTP Client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E8B44B"/>
                </a:solidFill>
              </a:rPr>
              <a:t>  •  </a:t>
            </a:r>
            <a:r>
              <a:rPr sz="1300">
                <a:solidFill>
                  <a:srgbClr val="FFFFFF"/>
                </a:solidFill>
              </a:rPr>
              <a:t>Context API (State)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463040"/>
            <a:ext cx="3474720" cy="3200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15544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BACKEND (Server)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0" y="2057400"/>
            <a:ext cx="1280160" cy="508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28600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E8B44B"/>
                </a:solidFill>
              </a:rPr>
              <a:t>  •  </a:t>
            </a:r>
            <a:r>
              <a:rPr sz="1300">
                <a:solidFill>
                  <a:srgbClr val="FFFFFF"/>
                </a:solidFill>
              </a:rPr>
              <a:t>Node.js + Express.js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E8B44B"/>
                </a:solidFill>
              </a:rPr>
              <a:t>  •  </a:t>
            </a:r>
            <a:r>
              <a:rPr sz="1300">
                <a:solidFill>
                  <a:srgbClr val="FFFFFF"/>
                </a:solidFill>
              </a:rPr>
              <a:t>RESTful API Routes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E8B44B"/>
                </a:solidFill>
              </a:rPr>
              <a:t>  •  </a:t>
            </a:r>
            <a:r>
              <a:rPr sz="1300">
                <a:solidFill>
                  <a:srgbClr val="FFFFFF"/>
                </a:solidFill>
              </a:rPr>
              <a:t>JWT Authentication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E8B44B"/>
                </a:solidFill>
              </a:rPr>
              <a:t>  •  </a:t>
            </a:r>
            <a:r>
              <a:rPr sz="1300">
                <a:solidFill>
                  <a:srgbClr val="FFFFFF"/>
                </a:solidFill>
              </a:rPr>
              <a:t>Multer File Upload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E8B44B"/>
                </a:solidFill>
              </a:rPr>
              <a:t>  •  </a:t>
            </a:r>
            <a:r>
              <a:rPr sz="1300">
                <a:solidFill>
                  <a:srgbClr val="FFFFFF"/>
                </a:solidFill>
              </a:rPr>
              <a:t>Stripe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1463040"/>
            <a:ext cx="3474720" cy="32004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5544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DATABASE (Storage)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2057400"/>
            <a:ext cx="1280160" cy="508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228600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E8B44B"/>
                </a:solidFill>
              </a:rPr>
              <a:t>  •  </a:t>
            </a:r>
            <a:r>
              <a:rPr sz="1300">
                <a:solidFill>
                  <a:srgbClr val="FFFFFF"/>
                </a:solidFill>
              </a:rPr>
              <a:t>MongoDB Atlas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E8B44B"/>
                </a:solidFill>
              </a:rPr>
              <a:t>  •  </a:t>
            </a:r>
            <a:r>
              <a:rPr sz="1300">
                <a:solidFill>
                  <a:srgbClr val="FFFFFF"/>
                </a:solidFill>
              </a:rPr>
              <a:t>Mongoose ODM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E8B44B"/>
                </a:solidFill>
              </a:rPr>
              <a:t>  •  </a:t>
            </a:r>
            <a:r>
              <a:rPr sz="1300">
                <a:solidFill>
                  <a:srgbClr val="FFFFFF"/>
                </a:solidFill>
              </a:rPr>
              <a:t>User Collection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E8B44B"/>
                </a:solidFill>
              </a:rPr>
              <a:t>  •  </a:t>
            </a:r>
            <a:r>
              <a:rPr sz="1300">
                <a:solidFill>
                  <a:srgbClr val="FFFFFF"/>
                </a:solidFill>
              </a:rPr>
              <a:t>Watch/Order/Cart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E8B44B"/>
                </a:solidFill>
              </a:rPr>
              <a:t>  •  </a:t>
            </a:r>
            <a:r>
              <a:rPr sz="1300">
                <a:solidFill>
                  <a:srgbClr val="FFFFFF"/>
                </a:solidFill>
              </a:rPr>
              <a:t>Cloud-hosted (Atlas)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977639" y="2743200"/>
            <a:ext cx="274320" cy="365760"/>
          </a:xfrm>
          <a:prstGeom prst="rightArrow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7635240" y="2743200"/>
            <a:ext cx="274320" cy="365760"/>
          </a:xfrm>
          <a:prstGeom prst="rightArrow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937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B44B"/>
                </a:solidFill>
              </a:defRPr>
            </a:pPr>
            <a:r>
              <a:t>EXTERNAL SERVICES &amp; INTEGRATIONS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394960"/>
            <a:ext cx="2560320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4406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B44B"/>
                </a:solidFill>
              </a:defRPr>
            </a:pPr>
            <a:r>
              <a:t>Stripe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806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</a:defRPr>
            </a:pPr>
            <a:r>
              <a:t>Payment processing</a:t>
            </a:r>
            <a:br/>
            <a:r>
              <a:t>via Checkout Sessions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1880" y="5394960"/>
            <a:ext cx="2560320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1880" y="54406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B44B"/>
                </a:solidFill>
              </a:defRPr>
            </a:pPr>
            <a:r>
              <a:t>MongoDB Atlas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5806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</a:defRPr>
            </a:pPr>
            <a:r>
              <a:t>Cloud database</a:t>
            </a:r>
            <a:br/>
            <a:r>
              <a:t>hosting service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5394960"/>
            <a:ext cx="2560320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54406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B44B"/>
                </a:solidFill>
              </a:defRPr>
            </a:pPr>
            <a:r>
              <a:t>JWT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806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</a:defRPr>
            </a:pPr>
            <a:r>
              <a:t>Token-based</a:t>
            </a:r>
            <a:br/>
            <a:r>
              <a:t>authentication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72600" y="5394960"/>
            <a:ext cx="2560320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72600" y="54406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B44B"/>
                </a:solidFill>
              </a:defRPr>
            </a:pPr>
            <a:r>
              <a:t>Multer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5806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</a:defRPr>
            </a:pPr>
            <a:r>
              <a:t>File upload</a:t>
            </a:r>
            <a:br/>
            <a:r>
              <a:t>middleware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CCCCCC"/>
                </a:solidFill>
              </a:defRPr>
            </a:pPr>
            <a: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B44B"/>
                </a:solidFill>
              </a:defRPr>
            </a:pPr>
            <a: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B44B"/>
                </a:solidFill>
              </a:defRPr>
            </a:pPr>
            <a:r>
              <a:t>Frontend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828800"/>
            <a:ext cx="1280160" cy="508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3474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2140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React.js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1214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UI component library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24912"/>
            <a:ext cx="3474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7432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Vite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7432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Build tool &amp; dev server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46704"/>
            <a:ext cx="3474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3649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Tailwind CSS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336499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Utility-first CSS framework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68496"/>
            <a:ext cx="3474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98678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React Router 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398678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Client-side routing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90288"/>
            <a:ext cx="3474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0857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Axios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60857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HTTP client for API calls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12080"/>
            <a:ext cx="3474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2303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Lucide React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52303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Icon components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833872"/>
            <a:ext cx="3474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852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React Toastify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Toast notifications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B44B"/>
                </a:solidFill>
              </a:defRPr>
            </a:pPr>
            <a:r>
              <a:t>Backend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94960" y="1828800"/>
            <a:ext cx="1280160" cy="508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97680" y="2103120"/>
            <a:ext cx="3474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4840" y="212140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Node.js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21214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JavaScript runtime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2724912"/>
            <a:ext cx="3474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7432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Express.js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27432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Web application framework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7680" y="3346704"/>
            <a:ext cx="3474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3649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Mongoose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0" y="336499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MongoDB ODM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97680" y="3968496"/>
            <a:ext cx="3474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398678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JSON Web Token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0" y="398678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Authentication tokens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80" y="4590288"/>
            <a:ext cx="3474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4840" y="460857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Bcryptjs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460857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Password hashing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97680" y="5212080"/>
            <a:ext cx="3474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34840" y="52303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Multer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26480" y="52303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File upload handling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97680" y="5833872"/>
            <a:ext cx="3474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34840" y="5852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Stripe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5852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Payment processing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3816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B44B"/>
                </a:solidFill>
              </a:defRPr>
            </a:pPr>
            <a:r>
              <a:t>Database &amp; Tools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235440" y="1828800"/>
            <a:ext cx="1280160" cy="508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138160" y="2103120"/>
            <a:ext cx="3474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75320" y="212140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MongoDB Atlas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6960" y="21214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Cloud NoSQL database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38160" y="2724912"/>
            <a:ext cx="3474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75320" y="27432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Git &amp; GitHub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66960" y="27432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Version control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38160" y="3346704"/>
            <a:ext cx="3474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75320" y="33649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Nodemon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66960" y="336499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Auto-restart dev server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38160" y="3968496"/>
            <a:ext cx="3474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75320" y="398678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Dotenv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66960" y="398678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Environment config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138160" y="4590288"/>
            <a:ext cx="3474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75320" y="460857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Validator.js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66960" y="460857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Input validation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38160" y="5212080"/>
            <a:ext cx="3474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75320" y="52303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CORS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66960" y="52303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Cross-origin resource sharing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138160" y="5833872"/>
            <a:ext cx="3474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75320" y="5852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UUID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66960" y="5852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Unique ID generation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CCCCCC"/>
                </a:solidFill>
              </a:defRPr>
            </a:pPr>
            <a: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B44B"/>
                </a:solidFill>
              </a:defRPr>
            </a:pPr>
            <a:r>
              <a:t>USER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645920"/>
            <a:ext cx="17373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371600"/>
            <a:ext cx="548640" cy="548640"/>
          </a:xfrm>
          <a:prstGeom prst="ellipse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1A2E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0116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8B44B"/>
                </a:solidFill>
              </a:defRPr>
            </a:pPr>
            <a:r>
              <a:t>Register / Login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560320"/>
            <a:ext cx="1554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User creates account</a:t>
            </a:r>
            <a:br/>
            <a:r>
              <a:t>or logs in with JWT</a:t>
            </a:r>
            <a:br/>
            <a:r>
              <a:t>authentication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03120" y="2743200"/>
            <a:ext cx="164592" cy="274320"/>
          </a:xfrm>
          <a:prstGeom prst="rightArrow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40279" y="1645920"/>
            <a:ext cx="17373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34639" y="1371600"/>
            <a:ext cx="548640" cy="548640"/>
          </a:xfrm>
          <a:prstGeom prst="ellipse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1A2E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79" y="20116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8B44B"/>
                </a:solidFill>
              </a:defRPr>
            </a:pPr>
            <a:r>
              <a:t>Browse Catalog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19" y="2560320"/>
            <a:ext cx="1554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Explore watches by</a:t>
            </a:r>
            <a:br/>
            <a:r>
              <a:t>category or brand</a:t>
            </a:r>
            <a:br/>
            <a:r>
              <a:t>with filtering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069079" y="2743200"/>
            <a:ext cx="164592" cy="274320"/>
          </a:xfrm>
          <a:prstGeom prst="rightArrow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6240" y="1645920"/>
            <a:ext cx="17373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00600" y="1371600"/>
            <a:ext cx="548640" cy="548640"/>
          </a:xfrm>
          <a:prstGeom prst="ellipse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1A2E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0116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8B44B"/>
                </a:solidFill>
              </a:defRPr>
            </a:pPr>
            <a:r>
              <a:t>Add to Cart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2560320"/>
            <a:ext cx="1554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Select watches,</a:t>
            </a:r>
            <a:br/>
            <a:r>
              <a:t>adjust quantities,</a:t>
            </a:r>
            <a:br/>
            <a:r>
              <a:t>review selections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035040" y="2743200"/>
            <a:ext cx="164592" cy="274320"/>
          </a:xfrm>
          <a:prstGeom prst="rightArrow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199" y="1645920"/>
            <a:ext cx="17373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766559" y="1371600"/>
            <a:ext cx="548640" cy="548640"/>
          </a:xfrm>
          <a:prstGeom prst="ellipse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1A2E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199" y="20116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8B44B"/>
                </a:solidFill>
              </a:defRPr>
            </a:pPr>
            <a:r>
              <a:t>Checkout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39" y="2560320"/>
            <a:ext cx="1554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Enter shipping &amp;</a:t>
            </a:r>
            <a:br/>
            <a:r>
              <a:t>billing details,</a:t>
            </a:r>
            <a:br/>
            <a:r>
              <a:t>review order summary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000999" y="2743200"/>
            <a:ext cx="164592" cy="274320"/>
          </a:xfrm>
          <a:prstGeom prst="rightArrow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38160" y="1645920"/>
            <a:ext cx="17373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371600"/>
            <a:ext cx="548640" cy="548640"/>
          </a:xfrm>
          <a:prstGeom prst="ellipse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1A2E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20116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8B44B"/>
                </a:solidFill>
              </a:defRPr>
            </a:pPr>
            <a:r>
              <a:t>Payment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560320"/>
            <a:ext cx="1554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Pay via Stripe or</a:t>
            </a:r>
            <a:br/>
            <a:r>
              <a:t>choose Cash on</a:t>
            </a:r>
            <a:br/>
            <a:r>
              <a:t>Delivery option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966960" y="2743200"/>
            <a:ext cx="164592" cy="274320"/>
          </a:xfrm>
          <a:prstGeom prst="rightArrow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104120" y="1645920"/>
            <a:ext cx="17373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698480" y="1371600"/>
            <a:ext cx="548640" cy="548640"/>
          </a:xfrm>
          <a:prstGeom prst="ellipse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1A2E"/>
                </a:solidFill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04120" y="20116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8B44B"/>
                </a:solidFill>
              </a:defRPr>
            </a:pPr>
            <a:r>
              <a:t>Order Confirmed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560320"/>
            <a:ext cx="1554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Receive confirmation,</a:t>
            </a:r>
            <a:br/>
            <a:r>
              <a:t>track order status</a:t>
            </a:r>
            <a:br/>
            <a:r>
              <a:t>through lifecycle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B44B"/>
                </a:solidFill>
              </a:defRPr>
            </a:pPr>
            <a:r>
              <a:t>ADMIN WORKFLOW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5212080"/>
            <a:ext cx="2560320" cy="118872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257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Admin Login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669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Access admin panel</a:t>
            </a:r>
            <a:br/>
            <a:r>
              <a:t>with credentials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11880" y="5212080"/>
            <a:ext cx="2560320" cy="118872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11880" y="5257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Add Products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11880" y="5669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Upload watches with</a:t>
            </a:r>
            <a:br/>
            <a:r>
              <a:t>images, prices, brands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5212080"/>
            <a:ext cx="2560320" cy="118872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5257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Manage Orders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669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View, update status,</a:t>
            </a:r>
            <a:br/>
            <a:r>
              <a:t>process bookings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372600" y="5212080"/>
            <a:ext cx="2560320" cy="118872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72600" y="5257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Inventory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72600" y="5669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List/delete products,</a:t>
            </a:r>
            <a:br/>
            <a:r>
              <a:t>monitor stock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CCCCCC"/>
                </a:solidFill>
              </a:defRPr>
            </a:pPr>
            <a: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B44B"/>
                </a:solidFill>
              </a:defRPr>
            </a:pPr>
            <a:r>
              <a:t>PAYMENT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PAYMENT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ECC71"/>
                </a:solidFill>
              </a:rPr>
              <a:t>  •  </a:t>
            </a:r>
            <a:r>
              <a:rPr sz="1400">
                <a:solidFill>
                  <a:srgbClr val="FFFFFF"/>
                </a:solidFill>
              </a:rPr>
              <a:t>Stripe Checkout Sessions for secure online payments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ECC71"/>
                </a:solidFill>
              </a:rPr>
              <a:t>  •  </a:t>
            </a:r>
            <a:r>
              <a:rPr sz="1400">
                <a:solidFill>
                  <a:srgbClr val="FFFFFF"/>
                </a:solidFill>
              </a:rPr>
              <a:t>Support for card payments with real-time processing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ECC71"/>
                </a:solidFill>
              </a:rPr>
              <a:t>  •  </a:t>
            </a:r>
            <a:r>
              <a:rPr sz="1400">
                <a:solidFill>
                  <a:srgbClr val="FFFFFF"/>
                </a:solidFill>
              </a:rPr>
              <a:t>Cash on Delivery (COD) as alternative payment method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ECC71"/>
                </a:solidFill>
              </a:rPr>
              <a:t>  •  </a:t>
            </a:r>
            <a:r>
              <a:rPr sz="1400">
                <a:solidFill>
                  <a:srgbClr val="FFFFFF"/>
                </a:solidFill>
              </a:rPr>
              <a:t>Payment confirmation via Stripe session verification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ECC71"/>
                </a:solidFill>
              </a:rPr>
              <a:t>  •  </a:t>
            </a:r>
            <a:r>
              <a:rPr sz="1400">
                <a:solidFill>
                  <a:srgbClr val="FFFFFF"/>
                </a:solidFill>
              </a:rPr>
              <a:t>Order status updates based on payment status (Paid/Unpaid)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ECC71"/>
                </a:solidFill>
              </a:rPr>
              <a:t>  •  </a:t>
            </a:r>
            <a:r>
              <a:rPr sz="1400">
                <a:solidFill>
                  <a:srgbClr val="FFFFFF"/>
                </a:solidFill>
              </a:rPr>
              <a:t>Automatic tax calculation (8% tax rate) on orders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ECC71"/>
                </a:solidFill>
              </a:rPr>
              <a:t>  •  </a:t>
            </a:r>
            <a:r>
              <a:rPr sz="1400">
                <a:solidFill>
                  <a:srgbClr val="FFFFFF"/>
                </a:solidFill>
              </a:rPr>
              <a:t>Shipping charge logic - free shipping above threshold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ECC71"/>
                </a:solidFill>
              </a:rPr>
              <a:t>  •  </a:t>
            </a:r>
            <a:r>
              <a:rPr sz="1400">
                <a:solidFill>
                  <a:srgbClr val="FFFFFF"/>
                </a:solidFill>
              </a:rPr>
              <a:t>Success and cancel URL redirects after payment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SECURITY MEASURES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E74C3C"/>
                </a:solidFill>
              </a:rPr>
              <a:t>  •  </a:t>
            </a:r>
            <a:r>
              <a:rPr sz="1400">
                <a:solidFill>
                  <a:srgbClr val="FFFFFF"/>
                </a:solidFill>
              </a:rPr>
              <a:t>JWT (JSON Web Token) based authentication system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E74C3C"/>
                </a:solidFill>
              </a:rPr>
              <a:t>  •  </a:t>
            </a:r>
            <a:r>
              <a:rPr sz="1400">
                <a:solidFill>
                  <a:srgbClr val="FFFFFF"/>
                </a:solidFill>
              </a:rPr>
              <a:t>Bcrypt password hashing with salt rounds (10)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E74C3C"/>
                </a:solidFill>
              </a:rPr>
              <a:t>  •  </a:t>
            </a:r>
            <a:r>
              <a:rPr sz="1400">
                <a:solidFill>
                  <a:srgbClr val="FFFFFF"/>
                </a:solidFill>
              </a:rPr>
              <a:t>Auth middleware protecting sensitive API routes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E74C3C"/>
                </a:solidFill>
              </a:rPr>
              <a:t>  •  </a:t>
            </a:r>
            <a:r>
              <a:rPr sz="1400">
                <a:solidFill>
                  <a:srgbClr val="FFFFFF"/>
                </a:solidFill>
              </a:rPr>
              <a:t>Token expiry set to 24 hours for session security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E74C3C"/>
                </a:solidFill>
              </a:rPr>
              <a:t>  •  </a:t>
            </a:r>
            <a:r>
              <a:rPr sz="1400">
                <a:solidFill>
                  <a:srgbClr val="FFFFFF"/>
                </a:solidFill>
              </a:rPr>
              <a:t>Protected frontend routes redirect unauthenticated users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E74C3C"/>
                </a:solidFill>
              </a:rPr>
              <a:t>  •  </a:t>
            </a:r>
            <a:r>
              <a:rPr sz="1400">
                <a:solidFill>
                  <a:srgbClr val="FFFFFF"/>
                </a:solidFill>
              </a:rPr>
              <a:t>CORS enabled for controlled cross-origin access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E74C3C"/>
                </a:solidFill>
              </a:rPr>
              <a:t>  •  </a:t>
            </a:r>
            <a:r>
              <a:rPr sz="1400">
                <a:solidFill>
                  <a:srgbClr val="FFFFFF"/>
                </a:solidFill>
              </a:rPr>
              <a:t>Input validation using Validator.js library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E74C3C"/>
                </a:solidFill>
              </a:rPr>
              <a:t>  •  </a:t>
            </a:r>
            <a:r>
              <a:rPr sz="1400">
                <a:solidFill>
                  <a:srgbClr val="FFFFFF"/>
                </a:solidFill>
              </a:rPr>
              <a:t>Sensitive credentials stored in environment variables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669280"/>
            <a:ext cx="1069848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7607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Stripe processes payments on its PCI-compliant servers — no sensitive card data touches our backend. JWT tokens are verified on every protected API request, and passwords are never stored in plain text.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CCCCCC"/>
                </a:solidFill>
              </a:defRPr>
            </a:pPr>
            <a: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B44B"/>
                </a:solidFill>
              </a:defRPr>
            </a:pPr>
            <a:r>
              <a:t>DATABASE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486400" cy="2377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B44B"/>
                </a:solidFill>
              </a:defRPr>
            </a:pPr>
            <a:r>
              <a:t>User Collection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74520"/>
            <a:ext cx="1828800" cy="508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E8B44B"/>
                </a:solidFill>
              </a:rPr>
              <a:t>  •  </a:t>
            </a:r>
            <a:r>
              <a:rPr sz="1200">
                <a:solidFill>
                  <a:srgbClr val="CCCCCC"/>
                </a:solidFill>
              </a:rPr>
              <a:t>_id (ObjectId)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E8B44B"/>
                </a:solidFill>
              </a:rPr>
              <a:t>  •  </a:t>
            </a:r>
            <a:r>
              <a:rPr sz="1200">
                <a:solidFill>
                  <a:srgbClr val="CCCCCC"/>
                </a:solidFill>
              </a:rPr>
              <a:t>name (String, required)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E8B44B"/>
                </a:solidFill>
              </a:rPr>
              <a:t>  •  </a:t>
            </a:r>
            <a:r>
              <a:rPr sz="1200">
                <a:solidFill>
                  <a:srgbClr val="CCCCCC"/>
                </a:solidFill>
              </a:rPr>
              <a:t>email (String, unique)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E8B44B"/>
                </a:solidFill>
              </a:rPr>
              <a:t>  •  </a:t>
            </a:r>
            <a:r>
              <a:rPr sz="1200">
                <a:solidFill>
                  <a:srgbClr val="CCCCCC"/>
                </a:solidFill>
              </a:rPr>
              <a:t>password (String, hashed)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E8B44B"/>
                </a:solidFill>
              </a:rPr>
              <a:t>  •  </a:t>
            </a:r>
            <a:r>
              <a:rPr sz="1200">
                <a:solidFill>
                  <a:srgbClr val="CCCCCC"/>
                </a:solidFill>
              </a:rPr>
              <a:t>timestamps (createdAt, updatedAt)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486400" cy="2377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B44B"/>
                </a:solidFill>
              </a:defRPr>
            </a:pPr>
            <a:r>
              <a:t>Watch Collection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874520"/>
            <a:ext cx="1828800" cy="508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E8B44B"/>
                </a:solidFill>
              </a:rPr>
              <a:t>  •  </a:t>
            </a:r>
            <a:r>
              <a:rPr sz="1200">
                <a:solidFill>
                  <a:srgbClr val="CCCCCC"/>
                </a:solidFill>
              </a:rPr>
              <a:t>_id (ObjectId)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E8B44B"/>
                </a:solidFill>
              </a:rPr>
              <a:t>  •  </a:t>
            </a:r>
            <a:r>
              <a:rPr sz="1200">
                <a:solidFill>
                  <a:srgbClr val="CCCCCC"/>
                </a:solidFill>
              </a:rPr>
              <a:t>name, description (String)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E8B44B"/>
                </a:solidFill>
              </a:rPr>
              <a:t>  •  </a:t>
            </a:r>
            <a:r>
              <a:rPr sz="1200">
                <a:solidFill>
                  <a:srgbClr val="CCCCCC"/>
                </a:solidFill>
              </a:rPr>
              <a:t>price (Number, required)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E8B44B"/>
                </a:solidFill>
              </a:rPr>
              <a:t>  •  </a:t>
            </a:r>
            <a:r>
              <a:rPr sz="1200">
                <a:solidFill>
                  <a:srgbClr val="CCCCCC"/>
                </a:solidFill>
              </a:rPr>
              <a:t>category (men/women/brand)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E8B44B"/>
                </a:solidFill>
              </a:rPr>
              <a:t>  •  </a:t>
            </a:r>
            <a:r>
              <a:rPr sz="1200">
                <a:solidFill>
                  <a:srgbClr val="CCCCCC"/>
                </a:solidFill>
              </a:rPr>
              <a:t>brandName (String, optional)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E8B44B"/>
                </a:solidFill>
              </a:rPr>
              <a:t>  •  </a:t>
            </a:r>
            <a:r>
              <a:rPr sz="1200">
                <a:solidFill>
                  <a:srgbClr val="CCCCCC"/>
                </a:solidFill>
              </a:rPr>
              <a:t>image (String, URL path)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023360"/>
            <a:ext cx="5486400" cy="2377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B44B"/>
                </a:solidFill>
              </a:defRPr>
            </a:pPr>
            <a:r>
              <a:t>Order Collection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828800" cy="508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6634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E8B44B"/>
                </a:solidFill>
              </a:rPr>
              <a:t>  •  </a:t>
            </a:r>
            <a:r>
              <a:rPr sz="1200">
                <a:solidFill>
                  <a:srgbClr val="CCCCCC"/>
                </a:solidFill>
              </a:rPr>
              <a:t>orderId (String, unique)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E8B44B"/>
                </a:solidFill>
              </a:rPr>
              <a:t>  •  </a:t>
            </a:r>
            <a:r>
              <a:rPr sz="1200">
                <a:solidFill>
                  <a:srgbClr val="CCCCCC"/>
                </a:solidFill>
              </a:rPr>
              <a:t>user (ObjectId ref -&gt; User)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E8B44B"/>
                </a:solidFill>
              </a:rPr>
              <a:t>  •  </a:t>
            </a:r>
            <a:r>
              <a:rPr sz="1200">
                <a:solidFill>
                  <a:srgbClr val="CCCCCC"/>
                </a:solidFill>
              </a:rPr>
              <a:t>name, email, phone, address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E8B44B"/>
                </a:solidFill>
              </a:rPr>
              <a:t>  •  </a:t>
            </a:r>
            <a:r>
              <a:rPr sz="1200">
                <a:solidFill>
                  <a:srgbClr val="CCCCCC"/>
                </a:solidFill>
              </a:rPr>
              <a:t>items[] (product array)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E8B44B"/>
                </a:solidFill>
              </a:rPr>
              <a:t>  •  </a:t>
            </a:r>
            <a:r>
              <a:rPr sz="1200">
                <a:solidFill>
                  <a:srgbClr val="CCCCCC"/>
                </a:solidFill>
              </a:rPr>
              <a:t>totalAmount, taxAmount, finalAmount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E8B44B"/>
                </a:solidFill>
              </a:rPr>
              <a:t>  •  </a:t>
            </a:r>
            <a:r>
              <a:rPr sz="1200">
                <a:solidFill>
                  <a:srgbClr val="CCCCCC"/>
                </a:solidFill>
              </a:rPr>
              <a:t>paymentMethod, paymentStatus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E8B44B"/>
                </a:solidFill>
              </a:rPr>
              <a:t>  •  </a:t>
            </a:r>
            <a:r>
              <a:rPr sz="1200">
                <a:solidFill>
                  <a:srgbClr val="CCCCCC"/>
                </a:solidFill>
              </a:rPr>
              <a:t>orderStatus (Pending/Confirmed/etc)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4023360"/>
            <a:ext cx="5486400" cy="2377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1148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B44B"/>
                </a:solidFill>
              </a:defRPr>
            </a:pPr>
            <a:r>
              <a:t>Cart Collection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526280"/>
            <a:ext cx="1828800" cy="508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6634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E8B44B"/>
                </a:solidFill>
              </a:rPr>
              <a:t>  •  </a:t>
            </a:r>
            <a:r>
              <a:rPr sz="1200">
                <a:solidFill>
                  <a:srgbClr val="CCCCCC"/>
                </a:solidFill>
              </a:rPr>
              <a:t>user (ObjectId ref -&gt; User, unique)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E8B44B"/>
                </a:solidFill>
              </a:rPr>
              <a:t>  •  </a:t>
            </a:r>
            <a:r>
              <a:rPr sz="1200">
                <a:solidFill>
                  <a:srgbClr val="CCCCCC"/>
                </a:solidFill>
              </a:rPr>
              <a:t>items[] (productId, name, img,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E8B44B"/>
                </a:solidFill>
              </a:rPr>
              <a:t>  •  </a:t>
            </a:r>
            <a:r>
              <a:rPr sz="1200">
                <a:solidFill>
                  <a:srgbClr val="CCCCCC"/>
                </a:solidFill>
              </a:rPr>
              <a:t>  price, qty, description)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E8B44B"/>
                </a:solidFill>
              </a:rPr>
              <a:t>  •  </a:t>
            </a:r>
            <a:r>
              <a:rPr sz="1200">
                <a:solidFill>
                  <a:srgbClr val="CCCCCC"/>
                </a:solidFill>
              </a:rPr>
              <a:t>timestamps (createdAt, updatedAt)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CCCCCC"/>
                </a:solidFill>
              </a:defRPr>
            </a:pPr>
            <a: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B44B"/>
                </a:solidFill>
              </a:defRPr>
            </a:pPr>
            <a:r>
              <a:t>ADVANTAGES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394960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</a:defRPr>
            </a:pPr>
            <a: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4173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Scalable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</a:defRPr>
            </a:pPr>
            <a:r>
              <a:t>MERN stack enables easy horizontal scaling and modular development with separate frontend, admin, and backend services.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394960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463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4173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Real-Time Cart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78308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</a:defRPr>
            </a:pPr>
            <a:r>
              <a:t>Context API provides instant cart updates across all components without page reloads, enhancing UX.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394960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7432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6974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AI-Powered Assistance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06324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</a:defRPr>
            </a:pPr>
            <a:r>
              <a:t>Integrated chatbot reduces support load by handling product queries, recommendations, and order tracking automatically.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651760"/>
            <a:ext cx="5394960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27432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</a:defRPr>
            </a:pPr>
            <a: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6974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Secure Payment 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06324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</a:defRPr>
            </a:pPr>
            <a:r>
              <a:t>Stripe handles all sensitive card data on PCI-compliant servers, minimizing security liability for the application.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931920"/>
            <a:ext cx="5394960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97764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Separate Admin Panel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3434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</a:defRPr>
            </a:pPr>
            <a:r>
              <a:t>Dedicated admin interface allows inventory and order management without exposing admin functions to customers.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931920"/>
            <a:ext cx="5394960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4023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97764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Modern Developer Experience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3434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</a:defRPr>
            </a:pPr>
            <a:r>
              <a:t>Vite provides lightning-fast HMR builds, and Tailwind CSS enables rapid, consistent UI development.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212079"/>
            <a:ext cx="5394960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30351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</a:defRPr>
            </a:pPr>
            <a: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25779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Mobile-First Design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623559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</a:defRPr>
            </a:pPr>
            <a:r>
              <a:t>Responsive layout with hamburger navigation ensures seamless experience across all device sizes.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5212079"/>
            <a:ext cx="5394960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530351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</a:defRPr>
            </a:pPr>
            <a: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525779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Dual Payment Options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5623559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</a:defRPr>
            </a:pPr>
            <a:r>
              <a:t>Supporting both online (Stripe) and Cash on Delivery provides flexibility for diverse customer preferences.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CCCCCC"/>
                </a:solidFill>
              </a:defRPr>
            </a:pPr>
            <a: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B44B"/>
                </a:solidFill>
              </a:defRPr>
            </a:pPr>
            <a:r>
              <a:t>FUTURE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</a:defRPr>
            </a:pPr>
            <a:r>
              <a:t>Planned enhancements and potential expansions for the UrbanTime platform: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5394960" cy="1051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745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B44B"/>
                </a:solidFill>
              </a:defRPr>
            </a:pPr>
            <a: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B44B"/>
                </a:solidFill>
              </a:defRPr>
            </a:pPr>
            <a:r>
              <a:t>AI/ML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1284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Implement collaborative filtering and content-based recommendation engine using user browsing and purchase history for personalized watch suggestions.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828800"/>
            <a:ext cx="5394960" cy="1051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8745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B44B"/>
                </a:solidFill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8745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B44B"/>
                </a:solidFill>
              </a:defRPr>
            </a:pPr>
            <a:r>
              <a:t>Real-Time Notifications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21284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Add WebSocket-based push notifications for order status updates, new arrivals, price drops, and promotional offers.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63240"/>
            <a:ext cx="5394960" cy="1051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1089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B44B"/>
                </a:solidFill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1089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B44B"/>
                </a:solidFill>
              </a:defRPr>
            </a:pPr>
            <a:r>
              <a:t>Multi-Vendor Marketplace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44728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Expand to support multiple sellers/brands with vendor dashboards, commission management, and independent inventory control.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063240"/>
            <a:ext cx="5394960" cy="1051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1089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B44B"/>
                </a:solidFill>
              </a:defRPr>
            </a:pPr>
            <a: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1089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B44B"/>
                </a:solidFill>
              </a:defRPr>
            </a:pPr>
            <a:r>
              <a:t>Wishlist &amp; Reviews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44728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Allow users to save watches to wishlists and submit authenticated product reviews with star ratings and images.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297680"/>
            <a:ext cx="5394960" cy="1051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343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B44B"/>
                </a:solidFill>
              </a:defRPr>
            </a:pPr>
            <a: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3434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B44B"/>
                </a:solidFill>
              </a:defRPr>
            </a:pPr>
            <a:r>
              <a:t>Advanced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68172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Integrate analytics dashboards for admin with sales trends, revenue charts, customer demographics, and inventory forecasting.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4297680"/>
            <a:ext cx="5394960" cy="1051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4343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B44B"/>
                </a:solidFill>
              </a:defRPr>
            </a:pPr>
            <a: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3434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B44B"/>
                </a:solidFill>
              </a:defRPr>
            </a:pPr>
            <a:r>
              <a:t>Mobile Application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68172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Develop native iOS and Android apps using React Native, sharing business logic with the existing web platform.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532120"/>
            <a:ext cx="5394960" cy="1051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5778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B44B"/>
                </a:solidFill>
              </a:defRPr>
            </a:pPr>
            <a: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57784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B44B"/>
                </a:solidFill>
              </a:defRPr>
            </a:pPr>
            <a:r>
              <a:t>Multi-Currency &amp; i18n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91616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Support international payments with currency conversion, multi-language UI, and region-specific shipping rules.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5532120"/>
            <a:ext cx="5394960" cy="1051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55778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B44B"/>
                </a:solidFill>
              </a:defRPr>
            </a:pPr>
            <a: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557784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B44B"/>
                </a:solidFill>
              </a:defRPr>
            </a:pPr>
            <a:r>
              <a:t>Subscription &amp; Loyalty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91616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</a:defRPr>
            </a:pPr>
            <a:r>
              <a:t>Introduce membership tiers, loyalty points, referral programs, and recurring subscription boxes for collectors.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CCCCCC"/>
                </a:solidFill>
              </a:defRPr>
            </a:pPr>
            <a: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B44B"/>
                </a:solidFill>
              </a:defRPr>
            </a:pPr>
            <a: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E8B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46304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CCCCCC"/>
                </a:solidFill>
              </a:defRPr>
            </a:pPr>
            <a:r>
              <a:t>The UrbanTime luxury watch e-commerce platform successfully demonstrates a modern, full-stack web application built with the MERN stack. The project integrates all essential e-commerce functionalities including user authentication, product catalog management, shopping cart, secure Stripe payment processing, and an intelligent chatbot assistant.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43200"/>
            <a:ext cx="2560320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889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8B44B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375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Applications</a:t>
            </a:r>
            <a:br/>
            <a:r>
              <a:t>Frontend + Admin + Backend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2743200"/>
            <a:ext cx="2560320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27889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8B44B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3375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Collections</a:t>
            </a:r>
            <a:br/>
            <a:r>
              <a:t>User, Watch, Order, Cart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2743200"/>
            <a:ext cx="2560320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7889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8B44B"/>
                </a:solidFill>
              </a:defRPr>
            </a:pPr>
            <a:r>
              <a:t>15+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3375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API Endpoints</a:t>
            </a:r>
            <a:br/>
            <a:r>
              <a:t>RESTful architecture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72600" y="2743200"/>
            <a:ext cx="2560320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27889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8B44B"/>
                </a:solidFill>
              </a:defRPr>
            </a:pPr>
            <a: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33375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Key Features</a:t>
            </a:r>
            <a:br/>
            <a:r>
              <a:t>Auth, Cart, Pay, Chatbot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891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B44B"/>
                </a:solidFill>
              </a:defRPr>
            </a:pPr>
            <a:r>
              <a:t>KEY TAKEAWAYS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8463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ECC71"/>
                </a:solidFill>
              </a:rPr>
              <a:t>  •  </a:t>
            </a:r>
            <a:r>
              <a:rPr sz="1500">
                <a:solidFill>
                  <a:srgbClr val="FFFFFF"/>
                </a:solidFill>
              </a:rPr>
              <a:t>Successfully built a production-ready e-commerce platform using modern web technologies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CC71"/>
                </a:solidFill>
              </a:rPr>
              <a:t>  •  </a:t>
            </a:r>
            <a:r>
              <a:rPr sz="1500">
                <a:solidFill>
                  <a:srgbClr val="FFFFFF"/>
                </a:solidFill>
              </a:rPr>
              <a:t>Implemented secure authentication and payment systems following industry best practices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CC71"/>
                </a:solidFill>
              </a:rPr>
              <a:t>  •  </a:t>
            </a:r>
            <a:r>
              <a:rPr sz="1500">
                <a:solidFill>
                  <a:srgbClr val="FFFFFF"/>
                </a:solidFill>
              </a:rPr>
              <a:t>Designed a scalable architecture that separates concerns across frontend, admin, and backend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CC71"/>
                </a:solidFill>
              </a:rPr>
              <a:t>  •  </a:t>
            </a:r>
            <a:r>
              <a:rPr sz="1500">
                <a:solidFill>
                  <a:srgbClr val="FFFFFF"/>
                </a:solidFill>
              </a:rPr>
              <a:t>Created an AI-powered chatbot to enhance customer engagement and reduce support overhead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62179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8B44B"/>
                </a:solidFill>
              </a:defRPr>
            </a:pPr>
            <a:r>
              <a:t>Thank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CCCCCC"/>
                </a:solidFill>
              </a:defRPr>
            </a:pPr>
            <a: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